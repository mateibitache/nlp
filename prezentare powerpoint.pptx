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2328"/>
                </a:solidFill>
              </a:rPr>
              <a:t>Emotion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63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B636E"/>
                </a:solidFill>
              </a:rPr>
              <a:t>Detecting emotions in text with lexicon, Naive Bayes and hybrid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64008" cy="132588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450591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70632"/>
            <a:ext cx="26974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Extract scores for individual emotions and predict the dominant emotion.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233172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331720"/>
            <a:ext cx="64008" cy="132588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2450591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770632"/>
            <a:ext cx="26974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Implementation-focused project: code, experiments, results and slideshow.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33172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2331720"/>
            <a:ext cx="64008" cy="132588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450591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770632"/>
            <a:ext cx="26974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NRC Hashtag Emotion Lexicon, loaded from local extracted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33872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36E"/>
                </a:solidFill>
              </a:rPr>
              <a:t>NLP Final Project | Slideshow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What this presentation covers.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328"/>
                </a:solidFill>
              </a:defRPr>
            </a:pPr>
            <a:r>
              <a:t>Problem definition and motivation.</a:t>
            </a:r>
          </a:p>
          <a:p>
            <a:pPr>
              <a:spcAft>
                <a:spcPts val="600"/>
              </a:spcAft>
              <a:defRPr sz="1700">
                <a:solidFill>
                  <a:srgbClr val="1F2328"/>
                </a:solidFill>
              </a:defRPr>
            </a:pPr>
            <a:r>
              <a:t>Resources and emotion labels.</a:t>
            </a:r>
          </a:p>
          <a:p>
            <a:pPr>
              <a:spcAft>
                <a:spcPts val="600"/>
              </a:spcAft>
              <a:defRPr sz="1700">
                <a:solidFill>
                  <a:srgbClr val="1F2328"/>
                </a:solidFill>
              </a:defRPr>
            </a:pPr>
            <a:r>
              <a:t>Implementation architecture.</a:t>
            </a:r>
          </a:p>
          <a:p>
            <a:pPr>
              <a:spcAft>
                <a:spcPts val="600"/>
              </a:spcAft>
              <a:defRPr sz="1700">
                <a:solidFill>
                  <a:srgbClr val="1F2328"/>
                </a:solidFill>
              </a:defRPr>
            </a:pPr>
            <a:r>
              <a:t>Three methods: lexicon, Naive Bayes and hybrid.</a:t>
            </a:r>
          </a:p>
          <a:p>
            <a:pPr>
              <a:spcAft>
                <a:spcPts val="600"/>
              </a:spcAft>
              <a:defRPr sz="1700">
                <a:solidFill>
                  <a:srgbClr val="1F2328"/>
                </a:solidFill>
              </a:defRPr>
            </a:pPr>
            <a:r>
              <a:t>Experiment setup, metrics and results.</a:t>
            </a:r>
          </a:p>
          <a:p>
            <a:pPr>
              <a:spcAft>
                <a:spcPts val="600"/>
              </a:spcAft>
              <a:defRPr sz="1700">
                <a:solidFill>
                  <a:srgbClr val="1F2328"/>
                </a:solidFill>
              </a:defRPr>
            </a:pPr>
            <a:r>
              <a:t>Demo output, limitations and future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0020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600200"/>
            <a:ext cx="64008" cy="114300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719072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Main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2039112"/>
            <a:ext cx="32918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 strong interpretable lexical baseline is built and compared with learned alternatives.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15468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3154680"/>
            <a:ext cx="64008" cy="114300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273552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Deliverable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3593592"/>
            <a:ext cx="32918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PowerPoint complements the code and README, not the LaTeX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Emotion analysis maps text to affective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80">
                <a:solidFill>
                  <a:srgbClr val="1F2328"/>
                </a:solidFill>
              </a:defRPr>
            </a:pPr>
            <a:r>
              <a:t>Input: short text from social media, news or blogs.</a:t>
            </a:r>
          </a:p>
          <a:p>
            <a:pPr>
              <a:spcAft>
                <a:spcPts val="600"/>
              </a:spcAft>
              <a:defRPr sz="1580">
                <a:solidFill>
                  <a:srgbClr val="1F2328"/>
                </a:solidFill>
              </a:defRPr>
            </a:pPr>
            <a:r>
              <a:t>Output: a score for each emotion plus a dominant emotion.</a:t>
            </a:r>
          </a:p>
          <a:p>
            <a:pPr>
              <a:spcAft>
                <a:spcPts val="600"/>
              </a:spcAft>
              <a:defRPr sz="1580">
                <a:solidFill>
                  <a:srgbClr val="1F2328"/>
                </a:solidFill>
              </a:defRPr>
            </a:pPr>
            <a:r>
              <a:t>The label set follows NRC/Plutchik basic emotions.</a:t>
            </a:r>
          </a:p>
          <a:p>
            <a:pPr>
              <a:spcAft>
                <a:spcPts val="600"/>
              </a:spcAft>
              <a:defRPr sz="1580">
                <a:solidFill>
                  <a:srgbClr val="1F2328"/>
                </a:solidFill>
              </a:defRPr>
            </a:pPr>
            <a:r>
              <a:t>The implementation can process a single text or a CSV file.</a:t>
            </a:r>
          </a:p>
          <a:p>
            <a:pPr>
              <a:spcAft>
                <a:spcPts val="600"/>
              </a:spcAft>
              <a:defRPr sz="1580">
                <a:solidFill>
                  <a:srgbClr val="1F2328"/>
                </a:solidFill>
              </a:defRPr>
            </a:pPr>
            <a:r>
              <a:t>The final experiment evaluates dominant-label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08760"/>
            <a:ext cx="3703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508760"/>
            <a:ext cx="64008" cy="96012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1627631"/>
            <a:ext cx="34472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39191"/>
                </a:solidFill>
              </a:rPr>
              <a:t>Example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1947672"/>
            <a:ext cx="3429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I am happy but also a little afraid.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88920"/>
            <a:ext cx="3703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788920"/>
            <a:ext cx="64008" cy="96012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2907791"/>
            <a:ext cx="34472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Example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3227832"/>
            <a:ext cx="3429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fear = 0.60, joy = 0.27, trust = 0.05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069080"/>
            <a:ext cx="3703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4069080"/>
            <a:ext cx="64008" cy="96012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4187952"/>
            <a:ext cx="34472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Why scores?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4507992"/>
            <a:ext cx="3429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Texts can express mixed emotions, not only one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Why This Task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Emotion scores can be useful beyond simple sentiment.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123444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3619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Social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56232"/>
            <a:ext cx="2697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Track reactions to events and compare emotion trends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173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417320"/>
            <a:ext cx="64008" cy="123444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53619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News and blogs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856232"/>
            <a:ext cx="2697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Analyze fear, trust, anger or sadness in public narratives.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4173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1417320"/>
            <a:ext cx="64008" cy="123444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53619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Downstream 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1856232"/>
            <a:ext cx="2697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Use emotion scores as features for hate speech, optimism or therapy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9326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1F2328"/>
                </a:solidFill>
              </a:defRPr>
            </a:pPr>
            <a:r>
              <a:t>Emotion analysis is more fine-grained than positive/negative sentiment.</a:t>
            </a:r>
          </a:p>
          <a:p>
            <a:pPr>
              <a:spcAft>
                <a:spcPts val="600"/>
              </a:spcAft>
              <a:defRPr sz="1550">
                <a:solidFill>
                  <a:srgbClr val="1F2328"/>
                </a:solidFill>
              </a:defRPr>
            </a:pPr>
            <a:r>
              <a:t>It can reveal which type of affect dominates a text: fear, joy, trust, sadness, etc.</a:t>
            </a:r>
          </a:p>
          <a:p>
            <a:pPr>
              <a:spcAft>
                <a:spcPts val="600"/>
              </a:spcAft>
              <a:defRPr sz="1550">
                <a:solidFill>
                  <a:srgbClr val="1F2328"/>
                </a:solidFill>
              </a:defRPr>
            </a:pPr>
            <a:r>
              <a:t>The project prioritizes a reproducible implementation that runs locally.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Emotion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project predicts eight NRC/Plutchik emotions.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2057400" cy="594360"/>
          </a:xfrm>
          <a:prstGeom prst="roundRect">
            <a:avLst/>
          </a:prstGeom>
          <a:solidFill>
            <a:srgbClr val="D7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55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anger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057400" cy="5943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55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anticipation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463040"/>
            <a:ext cx="2057400" cy="594360"/>
          </a:xfrm>
          <a:prstGeom prst="roundRect">
            <a:avLst/>
          </a:prstGeom>
          <a:solidFill>
            <a:srgbClr val="7F3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655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disgust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2057400" cy="594360"/>
          </a:xfrm>
          <a:prstGeom prst="roundRect">
            <a:avLst/>
          </a:prstGeom>
          <a:solidFill>
            <a:srgbClr val="6A5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655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fear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06040"/>
            <a:ext cx="2057400" cy="594360"/>
          </a:xfrm>
          <a:prstGeom prst="roundRect">
            <a:avLst/>
          </a:prstGeom>
          <a:solidFill>
            <a:srgbClr val="1A9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joy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606040"/>
            <a:ext cx="2057400" cy="594360"/>
          </a:xfrm>
          <a:prstGeom prst="roundRect">
            <a:avLst/>
          </a:prstGeom>
          <a:solidFill>
            <a:srgbClr val="457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98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sadness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606040"/>
            <a:ext cx="2057400" cy="594360"/>
          </a:xfrm>
          <a:prstGeom prst="round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798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surprise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606040"/>
            <a:ext cx="2057400" cy="594360"/>
          </a:xfrm>
          <a:prstGeom prst="roundRect">
            <a:avLst/>
          </a:prstGeom>
          <a:solidFill>
            <a:srgbClr val="66B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798064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These categories are common in emotion lexicons and are close to Plutchik's wheel of emotions.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The code keeps the same label order in models, CSV outputs, metrics and charts.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implementation uses the extracted local resources from the provided page.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30">
                <a:solidFill>
                  <a:srgbClr val="1F2328"/>
                </a:solidFill>
              </a:defRPr>
            </a:pPr>
            <a:r>
              <a:t>Primary lexical resource: NRC Hashtag Emotion Lexicon v0.2.</a:t>
            </a:r>
          </a:p>
          <a:p>
            <a:pPr>
              <a:spcAft>
                <a:spcPts val="600"/>
              </a:spcAft>
              <a:defRPr sz="1530">
                <a:solidFill>
                  <a:srgbClr val="1F2328"/>
                </a:solidFill>
              </a:defRPr>
            </a:pPr>
            <a:r>
              <a:t>Each row has an emotion, a term and an association score.</a:t>
            </a:r>
          </a:p>
          <a:p>
            <a:pPr>
              <a:spcAft>
                <a:spcPts val="600"/>
              </a:spcAft>
              <a:defRPr sz="1530">
                <a:solidFill>
                  <a:srgbClr val="1F2328"/>
                </a:solidFill>
              </a:defRPr>
            </a:pPr>
            <a:r>
              <a:t>The loader searches both rezolvari/linkuri_extrase and ../linkuri_extrase.</a:t>
            </a:r>
          </a:p>
          <a:p>
            <a:pPr>
              <a:spcAft>
                <a:spcPts val="600"/>
              </a:spcAft>
              <a:defRPr sz="1530">
                <a:solidFill>
                  <a:srgbClr val="1F2328"/>
                </a:solidFill>
              </a:defRPr>
            </a:pPr>
            <a:r>
              <a:t>The code can also accept a custom lexicon path with --lexicon.</a:t>
            </a:r>
          </a:p>
          <a:p>
            <a:pPr>
              <a:spcAft>
                <a:spcPts val="600"/>
              </a:spcAft>
              <a:defRPr sz="1530">
                <a:solidFill>
                  <a:srgbClr val="1F2328"/>
                </a:solidFill>
              </a:defRPr>
            </a:pPr>
            <a:r>
              <a:t>The resource is used for non-commercial educational/research purposes.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508760"/>
            <a:ext cx="64008" cy="100584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1627631"/>
            <a:ext cx="3172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Local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194767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../linkuri_extrase/archives/.../NRC-Hashtag-Emotion-Lexicon-v0.2.txt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83464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2834640"/>
            <a:ext cx="64008" cy="100584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2953512"/>
            <a:ext cx="3172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Citation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327355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paper should cite the NRC lexicon and associated Mohammad papers.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Code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project is organized as a small Python package.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96012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576072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cli.py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Terminal commands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predict, predict-file, evaluate, run-experiments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pipeline.py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Main analyzer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dispatches lexicon, NB and hybrid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lexicon_model.py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Classic method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interpretable weighted lexicon scoring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nb_model.py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Learned baseline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weakly supervised Naive Bayes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experiments.py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Final evaluation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writes metrics, predictions and charts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metrics.py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accuracy, macro-F1, confusion matrix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visualization.py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Charts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328"/>
                          </a:solidFill>
                        </a:defRPr>
                      </a:pPr>
                      <a:r>
                        <a:t>SVG distributions without extra dependencies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same pipeline supports all methods.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508760" cy="658368"/>
          </a:xfrm>
          <a:prstGeom prst="round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75688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05740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B636E"/>
                </a:solidFill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74519"/>
            <a:ext cx="1508760" cy="658368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2075688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205740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B636E"/>
                </a:solidFill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74519"/>
            <a:ext cx="1508760" cy="658368"/>
          </a:xfrm>
          <a:prstGeom prst="round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075688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Tokenize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05740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B636E"/>
                </a:solidFill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874519"/>
            <a:ext cx="1508760" cy="658368"/>
          </a:xfrm>
          <a:prstGeom prst="round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075688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05740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B636E"/>
                </a:solidFill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874519"/>
            <a:ext cx="1508760" cy="65836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75688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9326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Text preprocessing removes URLs, lowercases, keeps hashtags and normalizes repeated characters.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The model returns emotion scores, dominant emotion, confidence and optional lexical evidence.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CSV outputs store one score column per emotion for easy use in tables.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Method 1: Lexicon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Classic weighted lookup with interpretable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Tokenize the input text.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For each token, check all lookup variants: original token, hashtag without #, possessive form.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If a lexicon term matches, add its association score to the corresponding emotion.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Apply simple modifiers: negation decreases contribution; intensifier increases contribution.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Normalize scores so they sum to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663440" cy="566928"/>
          </a:xfrm>
          <a:prstGeom prst="roundRect">
            <a:avLst/>
          </a:prstGeom>
          <a:solidFill>
            <a:srgbClr val="F6F2FC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91639"/>
            <a:ext cx="4343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8758"/>
                </a:solidFill>
              </a:rPr>
              <a:t>score_e = sum matched weights for emotion 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1460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514600"/>
            <a:ext cx="64008" cy="96012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633472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95351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Best result on the demo dataset and easy to explain.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9476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94760"/>
            <a:ext cx="64008" cy="960120"/>
          </a:xfrm>
          <a:prstGeom prst="rect">
            <a:avLst/>
          </a:prstGeom>
          <a:solidFill>
            <a:srgbClr val="BC4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3913632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C4B46"/>
                </a:solidFill>
              </a:rPr>
              <a:t>Weakness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23367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Limited by lexicon coverage and English/social-media vocabulary.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Method 2: Naive Bayes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 learned baseline trained from lexicon-derived examples.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257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Each lexicon term becomes a training example.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The lexicon emotion is used as a weak label.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The association score becomes a training weight.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Features combine word indicators and character n-grams.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Prediction uses log probabilities and softmax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08760"/>
            <a:ext cx="4663440" cy="566928"/>
          </a:xfrm>
          <a:prstGeom prst="roundRect">
            <a:avLst/>
          </a:prstGeom>
          <a:solidFill>
            <a:srgbClr val="F6F2FC"/>
          </a:solidFill>
          <a:ln>
            <a:solidFill>
              <a:srgbClr val="2A6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91639"/>
            <a:ext cx="4343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63AC"/>
                </a:solidFill>
              </a:rPr>
              <a:t>P(emotion | text) proportional to P(emotion) * product P(feature | emotion)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6032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2560320"/>
            <a:ext cx="64008" cy="96012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679191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Why useful?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99923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Can generalize through character n-grams, typos and related word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84048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840480"/>
            <a:ext cx="64008" cy="96012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3959352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Weakness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427939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Weak labels are noisier than manual annotations of full texts.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Method 3: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Combining lexical and learned scores.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Hybrid uses both models on the same text.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Default weight: 0.85 lexicon, 0.15 Naive Bayes.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The weight can be changed with --hybrid-weight.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The goal is to keep interpretability while adding a learned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663440" cy="566928"/>
          </a:xfrm>
          <a:prstGeom prst="roundRect">
            <a:avLst/>
          </a:prstGeom>
          <a:solidFill>
            <a:srgbClr val="F6F2FC"/>
          </a:solidFill>
          <a:ln>
            <a:solidFill>
              <a:srgbClr val="6F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00200"/>
            <a:ext cx="4343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F52A8"/>
                </a:solidFill>
              </a:rPr>
              <a:t>final = w * lexicon + (1 - w) * 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6888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468880"/>
            <a:ext cx="64008" cy="96012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587752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90779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w = 0.85, chosen to preserve strong lexical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49039"/>
            <a:ext cx="64008" cy="96012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3867911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18795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py emotion_cli.py run-experiments --hybrid-weight 0.75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Dataset for Final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 small labeled dataset was added for reproducible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5166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965960"/>
                <a:gridCol w="2057400"/>
              </a:tblGrid>
              <a:tr h="329183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F2328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F2328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F2328"/>
                          </a:solidFill>
                        </a:defRPr>
                      </a:pPr>
                      <a:r>
                        <a:t>Explanation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data/final_eval_texts.csv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manual demo labels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3 per emotion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Domains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social/news/blog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8 examples each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Labels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8 emotions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1F2328"/>
                          </a:solidFill>
                        </a:defRPr>
                      </a:pPr>
                      <a:r>
                        <a:t>balanced across classes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17320"/>
            <a:ext cx="39776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20">
                <a:solidFill>
                  <a:srgbClr val="1F2328"/>
                </a:solidFill>
              </a:defRPr>
            </a:pPr>
            <a:r>
              <a:t>The dataset is intentionally small but transparent.</a:t>
            </a:r>
          </a:p>
          <a:p>
            <a:pPr>
              <a:spcAft>
                <a:spcPts val="600"/>
              </a:spcAft>
              <a:defRPr sz="1420">
                <a:solidFill>
                  <a:srgbClr val="1F2328"/>
                </a:solidFill>
              </a:defRPr>
            </a:pPr>
            <a:r>
              <a:t>It gives the project a complete experimental loop.</a:t>
            </a:r>
          </a:p>
          <a:p>
            <a:pPr>
              <a:spcAft>
                <a:spcPts val="600"/>
              </a:spcAft>
              <a:defRPr sz="1420">
                <a:solidFill>
                  <a:srgbClr val="1F2328"/>
                </a:solidFill>
              </a:defRPr>
            </a:pPr>
            <a:r>
              <a:t>The paper should be clear that this is a demo evaluation, not a large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experiment reports accuracy and macro-F1.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64008" cy="114300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3619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56232"/>
            <a:ext cx="26974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Correct dominant-emotion predictions divided by all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64008" cy="114300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3619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856232"/>
            <a:ext cx="26974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Average F1 over all emotions, treating each class equally.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417320"/>
            <a:ext cx="64008" cy="114300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153619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Confusion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1856232"/>
            <a:ext cx="26974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Shows which emotions are confused with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Macro-F1 is important because it does not let frequent classes dominate the evaluation.</a:t>
            </a:r>
          </a:p>
          <a:p>
            <a:pPr>
              <a:spcAft>
                <a:spcPts val="600"/>
              </a:spcAft>
              <a:defRPr sz="1520">
                <a:solidFill>
                  <a:srgbClr val="1F2328"/>
                </a:solidFill>
              </a:defRPr>
            </a:pPr>
            <a:r>
              <a:t>The output folder also contains per-label precision, recall, F1 and per-domain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lexicon baseline is strongest on the demo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98448"/>
          <a:ext cx="37947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05840"/>
                <a:gridCol w="1005840"/>
                <a:gridCol w="640080"/>
              </a:tblGrid>
              <a:tr h="329184"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1F232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1F232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1F2328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1F2328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lexicon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0.9167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0.9187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nb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0.7917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0.8708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F232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3101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1F2328"/>
                </a:solidFill>
              </a:rPr>
              <a:t>lexicon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3328416"/>
            <a:ext cx="3383280" cy="18288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3328416"/>
            <a:ext cx="3383280" cy="18288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32918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36E"/>
                </a:solidFill>
              </a:rPr>
              <a:t>0.919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1127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1F2328"/>
                </a:solidFill>
              </a:rPr>
              <a:t>nb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709416"/>
            <a:ext cx="3383280" cy="18288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3709416"/>
            <a:ext cx="2865126" cy="18288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36728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36E"/>
                </a:solidFill>
              </a:rPr>
              <a:t>0.778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721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1F2328"/>
                </a:solidFill>
              </a:rPr>
              <a:t>hybrid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4090416"/>
            <a:ext cx="3383280" cy="18288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4090416"/>
            <a:ext cx="3206879" cy="18288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40538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36E"/>
                </a:solidFill>
              </a:rPr>
              <a:t>0.871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41732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417320"/>
            <a:ext cx="64008" cy="96012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536192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Best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185623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lexicon: accuracy 0.9167, macro-F1 0.9187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69748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2697480"/>
            <a:ext cx="64008" cy="96012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2816352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13639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Improves over NB but does not beat lexicon on this dataset.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977639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3977639"/>
            <a:ext cx="64008" cy="96012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096511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416552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test texts contain emotion words well covered by the lexicon.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Results by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experiment also tracks social, news and blog examples.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41148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960120"/>
                <a:gridCol w="960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Blog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News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Social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lexicon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nb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1732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20">
                <a:solidFill>
                  <a:srgbClr val="1F2328"/>
                </a:solidFill>
              </a:defRPr>
            </a:pPr>
            <a:r>
              <a:t>Lexicon reaches 1.0 accuracy on blog examples.</a:t>
            </a:r>
          </a:p>
          <a:p>
            <a:pPr>
              <a:spcAft>
                <a:spcPts val="600"/>
              </a:spcAft>
              <a:defRPr sz="1420">
                <a:solidFill>
                  <a:srgbClr val="1F2328"/>
                </a:solidFill>
              </a:defRPr>
            </a:pPr>
            <a:r>
              <a:t>Hybrid is stable across all three domains: 0.875 accuracy each.</a:t>
            </a:r>
          </a:p>
          <a:p>
            <a:pPr>
              <a:spcAft>
                <a:spcPts val="600"/>
              </a:spcAft>
              <a:defRPr sz="1420">
                <a:solidFill>
                  <a:srgbClr val="1F2328"/>
                </a:solidFill>
              </a:defRPr>
            </a:pPr>
            <a:r>
              <a:t>NB is weaker on news and social texts in this small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Demo: CSV Prediction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application writes one score column per emotion.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9464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64008" cy="822960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9208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64792"/>
            <a:ext cx="9189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py emotion_cli.py predict-file --input data/sample_texts.csv --output outputs/predictions.csv --method hybrid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606040"/>
          <a:ext cx="59436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417320"/>
                <a:gridCol w="123444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Text id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Dominant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Joy score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</a:defRPr>
                      </a:pPr>
                      <a:r>
                        <a:t>Fear score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joy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0.5847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0.5847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0.1263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fear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0.6816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0.1017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328"/>
                          </a:solidFill>
                        </a:defRPr>
                      </a:pPr>
                      <a:r>
                        <a:t>0.6816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42976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1F2328"/>
                </a:solidFill>
              </a:defRPr>
            </a:pPr>
            <a:r>
              <a:t>The same interface works for manually typed text and CSV files.</a:t>
            </a:r>
          </a:p>
          <a:p>
            <a:pPr>
              <a:spcAft>
                <a:spcPts val="600"/>
              </a:spcAft>
              <a:defRPr sz="1450">
                <a:solidFill>
                  <a:srgbClr val="1F2328"/>
                </a:solidFill>
              </a:defRPr>
            </a:pPr>
            <a:r>
              <a:t>This output is easy to inspect, grade and reuse in the technical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Limitations and Ethical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Automatic emotion recognition should be used carefully.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The NRC lexicon is English and social-media oriented.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The demo evaluation dataset is small and manually constructed.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Naive Bayes is weakly supervised from lexicon terms, not from full human-labeled texts.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Emotion detection can be sensitive and should not be used as a definitive psychological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08760"/>
            <a:ext cx="3703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508760"/>
            <a:ext cx="64008" cy="1097280"/>
          </a:xfrm>
          <a:prstGeom prst="rect">
            <a:avLst/>
          </a:prstGeom>
          <a:solidFill>
            <a:srgbClr val="BC4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1627631"/>
            <a:ext cx="34472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C4B46"/>
                </a:solidFill>
              </a:rPr>
              <a:t>Responsible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194767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Report uncertainty, inspect examples and avoid high-stakes individual judgments.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71800"/>
            <a:ext cx="3703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971800"/>
            <a:ext cx="64008" cy="109728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3090672"/>
            <a:ext cx="34472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Paper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341071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Mention the NRC ethics/data statement and lexicon terms of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Conclusions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implementation is complete and ready to support the final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Built an end-to-end emotion analysis application.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Implemented and compared classic, learned and hybrid approaches.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Generated reproducible CSV, JSON, confusion matrix and SVG artifacts.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The strongest current method is the lexicon baseline on the demo set.</a:t>
            </a:r>
          </a:p>
          <a:p>
            <a:pPr>
              <a:spcAft>
                <a:spcPts val="600"/>
              </a:spcAft>
              <a:defRPr sz="1480">
                <a:solidFill>
                  <a:srgbClr val="1F2328"/>
                </a:solidFill>
              </a:defRPr>
            </a:pPr>
            <a:r>
              <a:t>Future work: evaluate on a larger dataset and add a Transformer/GPU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91640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691640"/>
            <a:ext cx="64008" cy="105156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810512"/>
            <a:ext cx="3355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Submission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2130552"/>
            <a:ext cx="3337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Code in rezolvari + README + this PowerPoint + future LaTeX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63240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3063240"/>
            <a:ext cx="64008" cy="105156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3182112"/>
            <a:ext cx="3355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Final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502152"/>
            <a:ext cx="3337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 transparent baseline can be strong, especially when lexical emotion evidence is explicit.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B636E"/>
                </a:solidFill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Positioning Against Common NLP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Where this implementation sits compared with heavier neural solutions.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83210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43000"/>
                <a:gridCol w="3794760"/>
                <a:gridCol w="1371600"/>
              </a:tblGrid>
              <a:tr h="329183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F2328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F2328"/>
                          </a:solidFill>
                        </a:defRPr>
                      </a:pPr>
                      <a:r>
                        <a:t>Needs GPU?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F2328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F2328"/>
                          </a:solidFill>
                        </a:defRPr>
                      </a:pPr>
                      <a:r>
                        <a:t>Used here?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Lexicon scoring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interpretable and reproducible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Classic ML / NB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fast learned baseline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Transformer fine-tuning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Usually 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stronger on large labeled datasets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Future work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LLM prompting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No/Cloud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flexible but less controlled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F2328"/>
                          </a:solidFill>
                        </a:defRPr>
                      </a:pPr>
                      <a:r>
                        <a:t>Not needed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60120" y="4114800"/>
            <a:ext cx="4480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4114800"/>
            <a:ext cx="64008" cy="96012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4233672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Why no RunPod/Kaggle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4553712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submitted implementation uses lexicons and Naive Bayes, so it runs locally without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114800"/>
            <a:ext cx="4480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4114800"/>
            <a:ext cx="64008" cy="96012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4233672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When GPU would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4553712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A future Transformer baseline could be trained on GoEmotions or SemEval-style datasets.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36E"/>
                </a:solidFill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How to Reproduce the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full experimental workflow is terminal-based.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9509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64008" cy="658368"/>
          </a:xfrm>
          <a:prstGeom prst="rect">
            <a:avLst/>
          </a:prstGeom>
          <a:solidFill>
            <a:srgbClr val="2A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9253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63AC"/>
                </a:solidFill>
              </a:rPr>
              <a:t>1. Run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64792"/>
            <a:ext cx="9235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$env:PYTHONPATH='src'; py -m unittest discover -s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9509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40280"/>
            <a:ext cx="64008" cy="658368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59152"/>
            <a:ext cx="9253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2. Run final 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79192"/>
            <a:ext cx="9235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py emotion_cli.py run-experiments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9509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154680"/>
            <a:ext cx="64008" cy="658368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73552"/>
            <a:ext cx="9253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3. Inspect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593592"/>
            <a:ext cx="9235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outputs/final_experiment/method_comparison.csv and metrics.json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69080"/>
            <a:ext cx="9509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069080"/>
            <a:ext cx="64008" cy="658368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187952"/>
            <a:ext cx="9253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4. Demo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507992"/>
            <a:ext cx="9235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py emotion_cli.py predict --text "I trust the team" --method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F2328"/>
                </a:solidFill>
              </a:defRPr>
            </a:pPr>
            <a:r>
              <a:t>These commands make the project easy to rerun during grading or live demonstration.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36E"/>
                </a:solidFill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Generated Artifacts for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code produces files that can be inserted directly into the technical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9189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743200"/>
                <a:gridCol w="4206240"/>
              </a:tblGrid>
              <a:tr h="329184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F2328"/>
                          </a:solidFill>
                        </a:defRPr>
                      </a:pPr>
                      <a:r>
                        <a:t>Artifact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F2328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F2328"/>
                          </a:solidFill>
                        </a:defRPr>
                      </a:pPr>
                      <a:r>
                        <a:t>Use in report/presentation</a:t>
                      </a:r>
                    </a:p>
                  </a:txBody>
                  <a:tcPr marL="45720" marR="45720">
                    <a:solidFill>
                      <a:srgbClr val="E8EF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method_comparison.csv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outputs/final_experiment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main result table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metrics.json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outputs/final_experiment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full per-label metrics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confusion_*.csv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outputs/final_experiment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error analysis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predictions_*.csv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outputs/final_experiment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qualitative examples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predicted_distribution_*.svg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outputs/final_experiment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emotion distribution figures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README.md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rezolvari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328"/>
                          </a:solidFill>
                        </a:defRPr>
                      </a:pPr>
                      <a:r>
                        <a:t>implementation documentation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36E"/>
                </a:solidFill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328"/>
                </a:solidFill>
              </a:rPr>
              <a:t>Discussion Points /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Useful points if the project is presented orally.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19556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Why did lexicon win? The demo texts contain explicit emotion words covered by NRC.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Why keep NB? It satisfies a learned baseline and gives a contrast with the classic method.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Why hybrid? It demonstrates score-level model combination and can be tuned.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What is the biggest limitation? Small demo dataset and English lexicon coverage.</a:t>
            </a:r>
          </a:p>
          <a:p>
            <a:pPr>
              <a:spcAft>
                <a:spcPts val="600"/>
              </a:spcAft>
              <a:defRPr sz="1460">
                <a:solidFill>
                  <a:srgbClr val="1F2328"/>
                </a:solidFill>
              </a:defRPr>
            </a:pPr>
            <a:r>
              <a:t>Best next step: add a Transformer baseline on a larger manually labeled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00200"/>
            <a:ext cx="3611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600200"/>
            <a:ext cx="64008" cy="96012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1719072"/>
            <a:ext cx="3355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8758"/>
                </a:solidFill>
              </a:rPr>
              <a:t>Defensible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2039112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The project is not claiming SOTA; it is a reproducible implementation with clear baselines.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880360"/>
            <a:ext cx="3611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2880360"/>
            <a:ext cx="64008" cy="960120"/>
          </a:xfrm>
          <a:prstGeom prst="rect">
            <a:avLst/>
          </a:prstGeom>
          <a:solidFill>
            <a:srgbClr val="6F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999232"/>
            <a:ext cx="3355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F52A8"/>
                </a:solidFill>
              </a:rPr>
              <a:t>Optional 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3319272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RunPod/Kaggle would matter only for GPU-based Transformer fine-tuning.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160520"/>
            <a:ext cx="3611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160520"/>
            <a:ext cx="64008" cy="960120"/>
          </a:xfrm>
          <a:prstGeom prst="rect">
            <a:avLst/>
          </a:prstGeom>
          <a:solidFill>
            <a:srgbClr val="DE8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279392"/>
            <a:ext cx="3355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E882B"/>
                </a:solidFill>
              </a:rPr>
              <a:t>Final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4599431"/>
            <a:ext cx="3337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36E"/>
                </a:solidFill>
              </a:rPr>
              <a:t>For the current requirement, local implementation is enough.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327648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36E"/>
                </a:solidFill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